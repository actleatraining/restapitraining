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2" name="Shape 12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el och u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dientbox.png" descr="gradientbox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816742" y="-9506"/>
            <a:ext cx="36017484" cy="13735012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itel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Titeltext</a:t>
            </a:r>
          </a:p>
        </p:txBody>
      </p:sp>
      <p:sp>
        <p:nvSpPr>
          <p:cNvPr id="15" name="Brödtext nivå ett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1pPr>
            <a:lvl2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2pPr>
            <a:lvl3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3pPr>
            <a:lvl4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4pPr>
            <a:lvl5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6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- Horisontel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"/>
          <p:cNvSpPr/>
          <p:nvPr>
            <p:ph type="pic" idx="21"/>
          </p:nvPr>
        </p:nvSpPr>
        <p:spPr>
          <a:xfrm>
            <a:off x="3124200" y="-38100"/>
            <a:ext cx="18135600" cy="120966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4" name="Titel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Titeltext</a:t>
            </a:r>
          </a:p>
        </p:txBody>
      </p:sp>
      <p:sp>
        <p:nvSpPr>
          <p:cNvPr id="25" name="Brödtext nivå ett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pic>
        <p:nvPicPr>
          <p:cNvPr id="26" name="actlea_logo_413x82.png" descr="actlea_logo_413x8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16153" y="12697466"/>
            <a:ext cx="3806146" cy="755701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- Centrer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el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35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- Vertik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ild"/>
          <p:cNvSpPr/>
          <p:nvPr>
            <p:ph type="pic" idx="21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3" name="Titel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 algn="ctr">
              <a:defRPr sz="8400">
                <a:solidFill>
                  <a:srgbClr val="000000"/>
                </a:solidFill>
              </a:defRPr>
            </a:lvl1pPr>
          </a:lstStyle>
          <a:p>
            <a:pPr/>
            <a:r>
              <a:t>Titeltext</a:t>
            </a:r>
          </a:p>
        </p:txBody>
      </p:sp>
      <p:sp>
        <p:nvSpPr>
          <p:cNvPr id="44" name="Brödtext nivå ett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45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- Uppt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och pun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Brödtext nivå et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>
            <a:lvl1pPr marL="444500" indent="-444500">
              <a:buClr>
                <a:srgbClr val="2E3092"/>
              </a:buClr>
              <a:buSzPct val="104999"/>
              <a:buChar char="‣"/>
              <a:defRPr sz="4800">
                <a:solidFill>
                  <a:srgbClr val="5E5E5E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>
              <a:buClr>
                <a:srgbClr val="2E3092"/>
              </a:buClr>
              <a:buChar char="‣"/>
              <a:defRPr sz="4800">
                <a:solidFill>
                  <a:srgbClr val="5E5E5E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>
              <a:buClr>
                <a:srgbClr val="2E3092"/>
              </a:buClr>
              <a:buChar char="‣"/>
              <a:defRPr sz="4800">
                <a:solidFill>
                  <a:srgbClr val="5E5E5E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>
              <a:buClr>
                <a:srgbClr val="2E3092"/>
              </a:buClr>
              <a:buChar char="‣"/>
              <a:defRPr sz="4800">
                <a:solidFill>
                  <a:srgbClr val="5E5E5E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>
              <a:buClr>
                <a:srgbClr val="2E3092"/>
              </a:buClr>
              <a:buChar char="‣"/>
              <a:defRPr sz="4800">
                <a:solidFill>
                  <a:srgbClr val="5E5E5E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pic>
        <p:nvPicPr>
          <p:cNvPr id="60" name="gradientline thin.png" descr="gradientline thi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2254553"/>
            <a:ext cx="24384001" cy="247178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itel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62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, punkter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Bild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70" name="Brödtext nivå ett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71" name="Titel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pic>
        <p:nvPicPr>
          <p:cNvPr id="72" name="gradientline thin.png" descr="gradientline thi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2254553"/>
            <a:ext cx="24384001" cy="247178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un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Brödtext nivå ett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81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- 3 per 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Bild"/>
          <p:cNvSpPr/>
          <p:nvPr>
            <p:ph type="pic" sz="quarter" idx="21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9" name="Bild"/>
          <p:cNvSpPr/>
          <p:nvPr>
            <p:ph type="pic" sz="quarter" idx="22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90" name="Bild"/>
          <p:cNvSpPr/>
          <p:nvPr>
            <p:ph type="pic" idx="23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91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9" name="”Skriv ett citat här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”Skriv ett citat här.” </a:t>
            </a:r>
          </a:p>
        </p:txBody>
      </p:sp>
      <p:sp>
        <p:nvSpPr>
          <p:cNvPr id="100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Bild"/>
          <p:cNvSpPr/>
          <p:nvPr>
            <p:ph type="pic" idx="21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8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Diabilds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_new2.ng.png" descr="logo_new2.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07903" y="12604887"/>
            <a:ext cx="3786852" cy="849606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gradientline thin.png" descr="gradientline thi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" y="2254553"/>
            <a:ext cx="24384001" cy="2471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eltext"/>
          <p:cNvSpPr txBox="1"/>
          <p:nvPr>
            <p:ph type="title"/>
          </p:nvPr>
        </p:nvSpPr>
        <p:spPr>
          <a:xfrm>
            <a:off x="1689100" y="4582"/>
            <a:ext cx="21005800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5" name="Brödtext nivå ett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6" name="Diabildsnumm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  <p:transition xmlns:p14="http://schemas.microsoft.com/office/powerpoint/2010/main" spd="med" advClick="1"/>
  <p:txStyles>
    <p:title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2E3092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2E3092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2E3092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2E3092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2E3092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2E3092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2E3092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2E3092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2E3092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uilding REST APIs with Spring Boo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Building REST APIs with Spring Boot</a:t>
            </a:r>
          </a:p>
        </p:txBody>
      </p:sp>
      <p:sp>
        <p:nvSpPr>
          <p:cNvPr id="125" name="3.4 Data Layer and Persistenc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3.4 Data Layer and Persistence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What Spring Data JPA is and why we use it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What Spring Data JPA is and why we use it</a:t>
            </a:r>
          </a:p>
          <a:p>
            <a:pPr/>
            <a:r>
              <a:t>How to model entities using JPA annotations</a:t>
            </a:r>
          </a:p>
          <a:p>
            <a:pPr/>
            <a:r>
              <a:t>How to work with H2 in-memory database</a:t>
            </a:r>
          </a:p>
          <a:p>
            <a:pPr/>
            <a:r>
              <a:t>How to define and use Repository interfaces</a:t>
            </a:r>
          </a:p>
          <a:p>
            <a:pPr/>
            <a:r>
              <a:t>How to test repository behavior using JUnit + Spring Boot</a:t>
            </a:r>
          </a:p>
        </p:txBody>
      </p:sp>
      <p:sp>
        <p:nvSpPr>
          <p:cNvPr id="128" name="Learning objectiv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Learning objectives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2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2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2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pring Data JPA provides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Spring Data JPA provides:</a:t>
            </a:r>
          </a:p>
          <a:p>
            <a:pPr lvl="1" marL="1079500" indent="-444500">
              <a:buSzPct val="104999"/>
            </a:pPr>
            <a:r>
              <a:t>A simplified way to work with relational databases</a:t>
            </a:r>
          </a:p>
          <a:p>
            <a:pPr lvl="1" marL="1079500" indent="-444500">
              <a:buSzPct val="104999"/>
            </a:pPr>
            <a:r>
              <a:t>Automatic CRUD methods through repositories</a:t>
            </a:r>
          </a:p>
          <a:p>
            <a:pPr lvl="1" marL="1079500" indent="-444500">
              <a:buSzPct val="104999"/>
            </a:pPr>
            <a:r>
              <a:t>Integration with JPA and Hibernate</a:t>
            </a:r>
          </a:p>
          <a:p>
            <a:pPr lvl="1" marL="1079500" indent="-444500">
              <a:buSzPct val="104999"/>
            </a:pPr>
            <a:r>
              <a:t>Convention-based query generation</a:t>
            </a:r>
          </a:p>
          <a:p>
            <a:pPr lvl="1" marL="1079500" indent="-444500">
              <a:buSzPct val="104999"/>
            </a:pPr>
            <a:r>
              <a:t>Minimal boilerplate code</a:t>
            </a:r>
          </a:p>
        </p:txBody>
      </p:sp>
      <p:sp>
        <p:nvSpPr>
          <p:cNvPr id="131" name="Introduction to Spring Data JP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Introduction to Spring Data JPA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3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Eliminates the need for manual SQL in basic cases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Eliminates the need for manual SQL in basic cases</a:t>
            </a:r>
          </a:p>
          <a:p>
            <a:pPr/>
            <a:r>
              <a:t>Reduces boilerplate data access code</a:t>
            </a:r>
          </a:p>
          <a:p>
            <a:pPr/>
            <a:r>
              <a:t>Easy integration with Spring Boot</a:t>
            </a:r>
          </a:p>
          <a:p>
            <a:pPr/>
            <a:r>
              <a:t>Encourages clean Layered Architecture</a:t>
            </a:r>
          </a:p>
          <a:p>
            <a:pPr/>
            <a:r>
              <a:t>Works seamlessly with H2, PostgreSQL, MySQL, etc.</a:t>
            </a:r>
          </a:p>
        </p:txBody>
      </p:sp>
      <p:sp>
        <p:nvSpPr>
          <p:cNvPr id="134" name="Why Use Spring Data JPA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Use Spring Data JPA?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3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ontroller → Service → Repository → Database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Controller → Service → Repository → Database</a:t>
            </a:r>
          </a:p>
          <a:p>
            <a:pPr lvl="1" marL="1079500" indent="-444500">
              <a:buSzPct val="104999"/>
            </a:pPr>
            <a:r>
              <a:t>Controllers handle requests</a:t>
            </a:r>
          </a:p>
          <a:p>
            <a:pPr lvl="1" marL="1079500" indent="-444500">
              <a:buSzPct val="104999"/>
            </a:pPr>
            <a:r>
              <a:t>Services contain logic</a:t>
            </a:r>
          </a:p>
          <a:p>
            <a:pPr lvl="1" marL="1079500" indent="-444500">
              <a:buSzPct val="104999"/>
            </a:pPr>
            <a:r>
              <a:t>Repositories handle persistence</a:t>
            </a:r>
          </a:p>
          <a:p>
            <a:pPr lvl="1" marL="1079500" indent="-444500">
              <a:buSzPct val="104999"/>
            </a:pPr>
            <a:r>
              <a:t>Database stores data</a:t>
            </a:r>
          </a:p>
        </p:txBody>
      </p:sp>
      <p:sp>
        <p:nvSpPr>
          <p:cNvPr id="137" name="How Spring Data JPA Fits in the Archite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86104">
              <a:defRPr sz="7951"/>
            </a:lvl1pPr>
          </a:lstStyle>
          <a:p>
            <a:pPr/>
            <a:r>
              <a:t>How Spring Data JPA Fits in the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3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A JPA Entity is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A JPA Entity is:</a:t>
            </a:r>
          </a:p>
          <a:p>
            <a:pPr lvl="1" marL="1079500" indent="-444500">
              <a:buSzPct val="104999"/>
            </a:pPr>
            <a:r>
              <a:t>A Java class mapped to a database table</a:t>
            </a:r>
          </a:p>
          <a:p>
            <a:pPr lvl="1" marL="1079500" indent="-444500">
              <a:buSzPct val="104999"/>
            </a:pPr>
            <a:r>
              <a:t>Managed by Hibernate</a:t>
            </a:r>
          </a:p>
          <a:p>
            <a:pPr lvl="1" marL="1079500" indent="-444500">
              <a:buSzPct val="104999"/>
            </a:pPr>
            <a:r>
              <a:t>Annotated with @Entity</a:t>
            </a:r>
          </a:p>
          <a:p>
            <a:pPr lvl="1" marL="1079500" indent="-444500">
              <a:buSzPct val="104999"/>
            </a:pPr>
            <a:r>
              <a:t>Must have a primary key</a:t>
            </a:r>
          </a:p>
          <a:p>
            <a:pPr lvl="1" marL="1079500" indent="-444500">
              <a:buSzPct val="104999"/>
            </a:pPr>
            <a:r>
              <a:t>Used by repositories for CRUD operations</a:t>
            </a:r>
          </a:p>
        </p:txBody>
      </p:sp>
      <p:sp>
        <p:nvSpPr>
          <p:cNvPr id="140" name="What Is a JPA Entity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a JPA Entity?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3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@Entity – marks a class as a JPA entity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@Entity – marks a class as a JPA entity</a:t>
            </a:r>
          </a:p>
          <a:p>
            <a:pPr/>
            <a:r>
              <a:t>@Id – identifies the primary key</a:t>
            </a:r>
          </a:p>
          <a:p>
            <a:pPr/>
            <a:r>
              <a:t>@GeneratedValue – auto-generated IDs</a:t>
            </a:r>
          </a:p>
          <a:p>
            <a:pPr/>
            <a:r>
              <a:t>@Column – customize database column mapping</a:t>
            </a:r>
          </a:p>
          <a:p>
            <a:pPr/>
            <a:r>
              <a:t>@Table – optional table-level configuration</a:t>
            </a:r>
          </a:p>
        </p:txBody>
      </p:sp>
      <p:sp>
        <p:nvSpPr>
          <p:cNvPr id="143" name="Essential JPA Annota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Essential JPA Annotations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4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Lightweight and easy to configure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Lightweight and easy to configure</a:t>
            </a:r>
          </a:p>
          <a:p>
            <a:pPr/>
            <a:r>
              <a:t>Perfect for demos and training</a:t>
            </a:r>
          </a:p>
          <a:p>
            <a:pPr/>
            <a:r>
              <a:t>Runs entirely in memory</a:t>
            </a:r>
          </a:p>
          <a:p>
            <a:pPr/>
            <a:r>
              <a:t>Automatically resets on application restart</a:t>
            </a:r>
          </a:p>
          <a:p>
            <a:pPr/>
            <a:r>
              <a:t>Works great with Spring Boot auto-configuration</a:t>
            </a:r>
          </a:p>
        </p:txBody>
      </p:sp>
      <p:sp>
        <p:nvSpPr>
          <p:cNvPr id="146" name="H2 In-Memory Databa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H2 In-Memory Database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4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A JPA Repository is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A JPA Repository is:</a:t>
            </a:r>
          </a:p>
          <a:p>
            <a:pPr lvl="1" marL="1079500" indent="-444500">
              <a:buSzPct val="104999"/>
            </a:pPr>
            <a:r>
              <a:t>A data access abstraction</a:t>
            </a:r>
          </a:p>
          <a:p>
            <a:pPr lvl="1" marL="1079500" indent="-444500">
              <a:buSzPct val="104999"/>
            </a:pPr>
            <a:r>
              <a:t>Provided by Spring Data</a:t>
            </a:r>
          </a:p>
          <a:p>
            <a:pPr lvl="1" marL="1079500" indent="-444500">
              <a:buSzPct val="104999"/>
            </a:pPr>
            <a:r>
              <a:t>Automatically implemented at runtime</a:t>
            </a:r>
          </a:p>
          <a:p>
            <a:pPr lvl="1" marL="1079500" indent="-444500">
              <a:buSzPct val="104999"/>
            </a:pPr>
            <a:r>
              <a:t>Used by services to interact with the DB</a:t>
            </a:r>
          </a:p>
        </p:txBody>
      </p:sp>
      <p:sp>
        <p:nvSpPr>
          <p:cNvPr id="149" name="CRUD with JPA Repositor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CRUD with JPA Repositories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4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pring Data JPA provides automatic methods like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Spring Data JPA provides automatic methods like:</a:t>
            </a:r>
          </a:p>
          <a:p>
            <a:pPr lvl="1" marL="1079500" indent="-444500">
              <a:buSzPct val="104999"/>
            </a:pPr>
            <a:r>
              <a:t>findAll()</a:t>
            </a:r>
          </a:p>
          <a:p>
            <a:pPr lvl="1" marL="1079500" indent="-444500">
              <a:buSzPct val="104999"/>
            </a:pPr>
            <a:r>
              <a:t>findById()</a:t>
            </a:r>
          </a:p>
          <a:p>
            <a:pPr lvl="1" marL="1079500" indent="-444500">
              <a:buSzPct val="104999"/>
            </a:pPr>
            <a:r>
              <a:t>save()</a:t>
            </a:r>
          </a:p>
          <a:p>
            <a:pPr lvl="1" marL="1079500" indent="-444500">
              <a:buSzPct val="104999"/>
            </a:pPr>
            <a:r>
              <a:t>deleteById()</a:t>
            </a:r>
          </a:p>
          <a:p>
            <a:pPr/>
            <a:r>
              <a:t>No implementation needed — Spring generates the code.</a:t>
            </a:r>
          </a:p>
        </p:txBody>
      </p:sp>
      <p:sp>
        <p:nvSpPr>
          <p:cNvPr id="152" name="What You Get Out of the Box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You Get Out of the Box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5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5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5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pository interfaces may define methods such as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Repository interfaces may define methods such as:</a:t>
            </a:r>
          </a:p>
          <a:p>
            <a:pPr lvl="1" marL="1079500" indent="-444500">
              <a:buSzPct val="104999"/>
            </a:pPr>
            <a:r>
              <a:t>findByTitle(String title)</a:t>
            </a:r>
          </a:p>
          <a:p>
            <a:pPr lvl="1" marL="1079500" indent="-444500">
              <a:buSzPct val="104999"/>
            </a:pPr>
            <a:r>
              <a:t>findByCompleted(boolean completed)</a:t>
            </a:r>
          </a:p>
          <a:p>
            <a:pPr lvl="1" marL="1079500" indent="-444500">
              <a:buSzPct val="104999"/>
            </a:pPr>
            <a:r>
              <a:t>findByAgeGreaterThan(int age)</a:t>
            </a:r>
          </a:p>
          <a:p>
            <a:pPr/>
            <a:r>
              <a:t>Spring parses the method name and creates the SQL automatically.</a:t>
            </a:r>
          </a:p>
        </p:txBody>
      </p:sp>
      <p:sp>
        <p:nvSpPr>
          <p:cNvPr id="155" name="Query Methods by Conven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Query Methods by Convention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5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5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5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Why Test Repositories?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Why Test Repositories?</a:t>
            </a:r>
          </a:p>
          <a:p>
            <a:pPr lvl="1" marL="1079500" indent="-444500">
              <a:buSzPct val="104999"/>
            </a:pPr>
            <a:r>
              <a:t>Ensure entity mappings are correct</a:t>
            </a:r>
          </a:p>
          <a:p>
            <a:pPr lvl="1" marL="1079500" indent="-444500">
              <a:buSzPct val="104999"/>
            </a:pPr>
            <a:r>
              <a:t>Validate database integration</a:t>
            </a:r>
          </a:p>
          <a:p>
            <a:pPr lvl="1" marL="1079500" indent="-444500">
              <a:buSzPct val="104999"/>
            </a:pPr>
            <a:r>
              <a:t>Confirm that auto-generated queries behave as expected</a:t>
            </a:r>
          </a:p>
          <a:p>
            <a:pPr lvl="1" marL="1079500" indent="-444500">
              <a:buSzPct val="104999"/>
            </a:pPr>
            <a:r>
              <a:t>Catch issues when the persistence model changes</a:t>
            </a:r>
          </a:p>
        </p:txBody>
      </p:sp>
      <p:sp>
        <p:nvSpPr>
          <p:cNvPr id="158" name="Testing Repository Metho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Testing Repository Methods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5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5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5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pring Boot provides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Spring Boot provides:</a:t>
            </a:r>
          </a:p>
          <a:p>
            <a:pPr lvl="1" marL="1079500" indent="-444500">
              <a:buSzPct val="104999"/>
            </a:pPr>
            <a:r>
              <a:t>Automatic creation of an in-memory database</a:t>
            </a:r>
          </a:p>
          <a:p>
            <a:pPr lvl="1" marL="1079500" indent="-444500">
              <a:buSzPct val="104999"/>
            </a:pPr>
            <a:r>
              <a:t>Automatic loading of entity classes</a:t>
            </a:r>
          </a:p>
          <a:p>
            <a:pPr lvl="1" marL="1079500" indent="-444500">
              <a:buSzPct val="104999"/>
            </a:pPr>
            <a:r>
              <a:t>Automatic creation of repository beans</a:t>
            </a:r>
          </a:p>
          <a:p>
            <a:pPr lvl="1" marL="1079500" indent="-444500">
              <a:buSzPct val="104999"/>
            </a:pPr>
            <a:r>
              <a:t>@SpringBootTest support for full context</a:t>
            </a:r>
          </a:p>
          <a:p>
            <a:pPr lvl="1" marL="1079500" indent="-444500">
              <a:buSzPct val="104999"/>
            </a:pPr>
            <a:r>
              <a:t>Clean test environment on each run</a:t>
            </a:r>
          </a:p>
        </p:txBody>
      </p:sp>
      <p:sp>
        <p:nvSpPr>
          <p:cNvPr id="161" name="How Spring Boot Helps Testing Repositor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86104">
              <a:defRPr sz="7951"/>
            </a:lvl1pPr>
          </a:lstStyle>
          <a:p>
            <a:pPr/>
            <a:r>
              <a:t>How Spring Boot Helps Testing Repositories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6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6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6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ypical approaches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Typical approaches:</a:t>
            </a:r>
          </a:p>
          <a:p>
            <a:pPr lvl="1" marL="1079500" indent="-444500">
              <a:buSzPct val="104999"/>
            </a:pPr>
            <a:r>
              <a:t>Use @SpringBootTest to load context</a:t>
            </a:r>
          </a:p>
          <a:p>
            <a:pPr lvl="1" marL="1079500" indent="-444500">
              <a:buSzPct val="104999"/>
            </a:pPr>
            <a:r>
              <a:t>Autowire the repository directly</a:t>
            </a:r>
          </a:p>
          <a:p>
            <a:pPr lvl="1" marL="1079500" indent="-444500">
              <a:buSzPct val="104999"/>
            </a:pPr>
            <a:r>
              <a:t>Insert sample entities</a:t>
            </a:r>
          </a:p>
          <a:p>
            <a:pPr lvl="1" marL="1079500" indent="-444500">
              <a:buSzPct val="104999"/>
            </a:pPr>
            <a:r>
              <a:t>Test CRUD operations</a:t>
            </a:r>
          </a:p>
          <a:p>
            <a:pPr lvl="1" marL="1079500" indent="-444500">
              <a:buSzPct val="104999"/>
            </a:pPr>
            <a:r>
              <a:t>Test custom repository methods</a:t>
            </a:r>
          </a:p>
        </p:txBody>
      </p:sp>
      <p:sp>
        <p:nvSpPr>
          <p:cNvPr id="164" name="Testing Strategies for Repositor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59459">
              <a:defRPr sz="10304"/>
            </a:lvl1pPr>
          </a:lstStyle>
          <a:p>
            <a:pPr/>
            <a:r>
              <a:t>Testing Strategies for Repositories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6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6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6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In the demo, the instructor will show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In the demo, the instructor will show:</a:t>
            </a:r>
          </a:p>
          <a:p>
            <a:pPr lvl="1" marL="1079500" indent="-444500">
              <a:buSzPct val="104999"/>
            </a:pPr>
            <a:r>
              <a:t>Defining a simple entity</a:t>
            </a:r>
          </a:p>
          <a:p>
            <a:pPr lvl="1" marL="1079500" indent="-444500">
              <a:buSzPct val="104999"/>
            </a:pPr>
            <a:r>
              <a:t>Creating a repository</a:t>
            </a:r>
          </a:p>
          <a:p>
            <a:pPr lvl="1" marL="1079500" indent="-444500">
              <a:buSzPct val="104999"/>
            </a:pPr>
            <a:r>
              <a:t>Running the app and using H2 console to inspect data</a:t>
            </a:r>
          </a:p>
          <a:p>
            <a:pPr lvl="1" marL="1079500" indent="-444500">
              <a:buSzPct val="104999"/>
            </a:pPr>
            <a:r>
              <a:t>Executing CRUD operations through the service/controller</a:t>
            </a:r>
          </a:p>
          <a:p>
            <a:pPr lvl="1" marL="1079500" indent="-444500">
              <a:buSzPct val="104999"/>
            </a:pPr>
            <a:r>
              <a:t>Writing repository tests with Spring Boot</a:t>
            </a:r>
          </a:p>
        </p:txBody>
      </p:sp>
      <p:sp>
        <p:nvSpPr>
          <p:cNvPr id="167" name="Demo Overview – Repository &amp; H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59459">
              <a:defRPr sz="10304"/>
            </a:lvl1pPr>
          </a:lstStyle>
          <a:p>
            <a:pPr/>
            <a:r>
              <a:t>Demo Overview – Repository &amp; H2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6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6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6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Use the solution from 3-3 and replace the in-memory TaskService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Use the solution from 3-3 and replace the in-memory TaskService</a:t>
            </a:r>
          </a:p>
          <a:p>
            <a:pPr/>
            <a:r>
              <a:t>Introduce a JPA repository for Task</a:t>
            </a:r>
          </a:p>
          <a:p>
            <a:pPr/>
            <a:r>
              <a:t>Use H2 as an in-memory database</a:t>
            </a:r>
          </a:p>
          <a:p>
            <a:pPr/>
            <a:r>
              <a:t>Load initial Task data using data.sql</a:t>
            </a:r>
          </a:p>
          <a:p>
            <a:pPr/>
            <a:r>
              <a:t>Modify the controller to use repository</a:t>
            </a:r>
          </a:p>
          <a:p>
            <a:pPr/>
            <a:r>
              <a:t>Write repository tests for CRUD operations</a:t>
            </a:r>
          </a:p>
        </p:txBody>
      </p:sp>
      <p:sp>
        <p:nvSpPr>
          <p:cNvPr id="170" name="Lab Overview: Adding Persisten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59459">
              <a:defRPr sz="10304"/>
            </a:lvl1pPr>
          </a:lstStyle>
          <a:p>
            <a:pPr/>
            <a:r>
              <a:t>Lab Overview: Adding Persistence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6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6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6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Add the required dependencies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Add the required dependencies:</a:t>
            </a:r>
          </a:p>
          <a:p>
            <a:pPr lvl="1" marL="1079500" indent="-444500">
              <a:buSzPct val="104999"/>
            </a:pPr>
            <a:r>
              <a:t>Spring Data JPA</a:t>
            </a:r>
          </a:p>
          <a:p>
            <a:pPr lvl="1" marL="1079500" indent="-444500">
              <a:buSzPct val="104999"/>
            </a:pPr>
            <a:r>
              <a:t>H2 Database</a:t>
            </a:r>
          </a:p>
          <a:p>
            <a:pPr lvl="1" marL="1079500" indent="-444500">
              <a:buSzPct val="104999"/>
            </a:pPr>
            <a:r>
              <a:t>Spring Boot Test (already included)</a:t>
            </a:r>
          </a:p>
          <a:p>
            <a:pPr/>
            <a:r>
              <a:t>Rebuild project after changes</a:t>
            </a:r>
          </a:p>
          <a:p>
            <a:pPr/>
            <a:r>
              <a:t>(Look at the demo code for help with many of these steps)</a:t>
            </a:r>
          </a:p>
        </p:txBody>
      </p:sp>
      <p:sp>
        <p:nvSpPr>
          <p:cNvPr id="173" name="Step 1: Add Maven Dependenc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7715">
              <a:defRPr sz="10416"/>
            </a:lvl1pPr>
          </a:lstStyle>
          <a:p>
            <a:pPr/>
            <a:r>
              <a:t>Step 1: Add Maven Dependencies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7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7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7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onfigure H2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Configure H2:</a:t>
            </a:r>
          </a:p>
          <a:p>
            <a:pPr lvl="1" marL="1079500" indent="-444500">
              <a:buSzPct val="104999"/>
            </a:pPr>
            <a:r>
              <a:t>Enable H2 console</a:t>
            </a:r>
          </a:p>
          <a:p>
            <a:pPr lvl="1" marL="1079500" indent="-444500">
              <a:buSzPct val="104999"/>
            </a:pPr>
            <a:r>
              <a:t>Set datasource URL</a:t>
            </a:r>
          </a:p>
          <a:p>
            <a:pPr lvl="1" marL="1079500" indent="-444500">
              <a:buSzPct val="104999"/>
            </a:pPr>
            <a:r>
              <a:t>Set JDBC driver and dialect</a:t>
            </a:r>
          </a:p>
          <a:p>
            <a:pPr lvl="1" marL="1079500" indent="-444500">
              <a:buSzPct val="104999"/>
            </a:pPr>
            <a:r>
              <a:t>Use spring.jpa.hibernate.ddl-auto=update</a:t>
            </a:r>
          </a:p>
          <a:p>
            <a:pPr lvl="1" marL="1079500" indent="-444500">
              <a:buSzPct val="104999"/>
            </a:pPr>
            <a:r>
              <a:t>Use spring.jpa.defer-datasource-initialization=true</a:t>
            </a:r>
          </a:p>
        </p:txBody>
      </p:sp>
      <p:sp>
        <p:nvSpPr>
          <p:cNvPr id="176" name="Step 2: Update application.propert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93419">
              <a:defRPr sz="9407"/>
            </a:lvl1pPr>
          </a:lstStyle>
          <a:p>
            <a:pPr/>
            <a:r>
              <a:t>Step 2: Update application.properties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7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Modify Task class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Modify Task class:</a:t>
            </a:r>
          </a:p>
          <a:p>
            <a:pPr lvl="1" marL="1079500" indent="-444500">
              <a:buSzPct val="104999"/>
            </a:pPr>
            <a:r>
              <a:t>Add @Entity</a:t>
            </a:r>
          </a:p>
          <a:p>
            <a:pPr lvl="1" marL="1079500" indent="-444500">
              <a:buSzPct val="104999"/>
            </a:pPr>
            <a:r>
              <a:t>Add @Id and @GeneratedValue</a:t>
            </a:r>
          </a:p>
          <a:p>
            <a:pPr lvl="1" marL="1079500" indent="-444500">
              <a:buSzPct val="104999"/>
            </a:pPr>
            <a:r>
              <a:t>Ensure fields are correct</a:t>
            </a:r>
          </a:p>
          <a:p>
            <a:pPr lvl="1" marL="1079500" indent="-444500">
              <a:buSzPct val="104999"/>
            </a:pPr>
            <a:r>
              <a:t>Ensure a no-args constructor exists</a:t>
            </a:r>
          </a:p>
          <a:p>
            <a:pPr lvl="1" marL="1079500" indent="-444500">
              <a:buSzPct val="104999"/>
            </a:pPr>
            <a:r>
              <a:t>Validate naming and capitalization</a:t>
            </a:r>
          </a:p>
        </p:txBody>
      </p:sp>
      <p:sp>
        <p:nvSpPr>
          <p:cNvPr id="179" name="Step 3: Create JPA Entity for Tas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75969">
              <a:defRPr sz="10528"/>
            </a:lvl1pPr>
          </a:lstStyle>
          <a:p>
            <a:pPr/>
            <a:r>
              <a:t>Step 3: Create JPA Entity for Task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7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7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78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reate repository interface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Create repository interface:</a:t>
            </a:r>
          </a:p>
          <a:p>
            <a:pPr lvl="1" marL="1079500" indent="-444500">
              <a:buSzPct val="104999"/>
            </a:pPr>
            <a:r>
              <a:t>Extend JpaRepository&lt;Task, Long&gt;</a:t>
            </a:r>
          </a:p>
          <a:p>
            <a:pPr lvl="1" marL="1079500" indent="-444500">
              <a:buSzPct val="104999"/>
            </a:pPr>
            <a:r>
              <a:t>Provide no additional methods yet</a:t>
            </a:r>
          </a:p>
          <a:p>
            <a:pPr lvl="1" marL="1079500" indent="-444500">
              <a:buSzPct val="104999"/>
            </a:pPr>
            <a:r>
              <a:t>Let Spring generate CRUD operations</a:t>
            </a:r>
          </a:p>
        </p:txBody>
      </p:sp>
      <p:sp>
        <p:nvSpPr>
          <p:cNvPr id="182" name="Step 4: Create TaskReposito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Step 4: Create TaskRepository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8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8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8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move in-memory service logic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Remove in-memory service logic:</a:t>
            </a:r>
          </a:p>
          <a:p>
            <a:pPr lvl="1" marL="1079500" indent="-444500">
              <a:buSzPct val="104999"/>
            </a:pPr>
            <a:r>
              <a:t>Delete TaskService</a:t>
            </a:r>
          </a:p>
          <a:p>
            <a:pPr lvl="1" marL="1079500" indent="-444500">
              <a:buSzPct val="104999"/>
            </a:pPr>
            <a:r>
              <a:t>Update controller to inject the TaskRepository</a:t>
            </a:r>
          </a:p>
          <a:p>
            <a:pPr lvl="1" marL="1079500" indent="-444500">
              <a:buSzPct val="104999"/>
            </a:pPr>
            <a:r>
              <a:t>Use the TaskRepository for all CRUD logic</a:t>
            </a:r>
          </a:p>
        </p:txBody>
      </p:sp>
      <p:sp>
        <p:nvSpPr>
          <p:cNvPr id="185" name="Step 5: Replace Service Lay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Step 5: Replace Service Layer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8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8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84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rovide initial test data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Provide initial test data:</a:t>
            </a:r>
          </a:p>
          <a:p>
            <a:pPr lvl="1" marL="1079500" indent="-444500">
              <a:buSzPct val="104999"/>
            </a:pPr>
            <a:r>
              <a:t>Insert a few Task rows</a:t>
            </a:r>
          </a:p>
          <a:p>
            <a:pPr lvl="1" marL="1079500" indent="-444500">
              <a:buSzPct val="104999"/>
            </a:pPr>
            <a:r>
              <a:t>Ensure IDs are created by the database</a:t>
            </a:r>
          </a:p>
        </p:txBody>
      </p:sp>
      <p:sp>
        <p:nvSpPr>
          <p:cNvPr id="188" name="Step 6: Create data.sq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Step 6: Create data.sql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8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8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87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move all tests from the previous lab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 marL="337820" indent="-337820" defTabSz="627379">
              <a:spcBef>
                <a:spcPts val="4400"/>
              </a:spcBef>
              <a:defRPr sz="3648"/>
            </a:pPr>
            <a:r>
              <a:t>Remove all tests from the previous lab</a:t>
            </a:r>
          </a:p>
          <a:p>
            <a:pPr marL="337820" indent="-337820" defTabSz="627379">
              <a:spcBef>
                <a:spcPts val="4400"/>
              </a:spcBef>
              <a:defRPr sz="3648"/>
            </a:pPr>
            <a:r>
              <a:t>Write tests that:</a:t>
            </a:r>
          </a:p>
          <a:p>
            <a:pPr lvl="1" marL="820419" indent="-337820" defTabSz="627379">
              <a:spcBef>
                <a:spcPts val="4400"/>
              </a:spcBef>
              <a:buSzPct val="104999"/>
              <a:defRPr sz="3648"/>
            </a:pPr>
            <a:r>
              <a:t>Load Spring context</a:t>
            </a:r>
          </a:p>
          <a:p>
            <a:pPr lvl="1" marL="820419" indent="-337820" defTabSz="627379">
              <a:spcBef>
                <a:spcPts val="4400"/>
              </a:spcBef>
              <a:buSzPct val="104999"/>
              <a:defRPr sz="3648"/>
            </a:pPr>
            <a:r>
              <a:t>Use H2 database</a:t>
            </a:r>
          </a:p>
          <a:p>
            <a:pPr lvl="1" marL="820419" indent="-337820" defTabSz="627379">
              <a:spcBef>
                <a:spcPts val="4400"/>
              </a:spcBef>
              <a:buSzPct val="104999"/>
              <a:defRPr sz="3648"/>
            </a:pPr>
            <a:r>
              <a:t>Verify findAll()</a:t>
            </a:r>
          </a:p>
          <a:p>
            <a:pPr lvl="1" marL="820419" indent="-337820" defTabSz="627379">
              <a:spcBef>
                <a:spcPts val="4400"/>
              </a:spcBef>
              <a:buSzPct val="104999"/>
              <a:defRPr sz="3648"/>
            </a:pPr>
            <a:r>
              <a:t>Verify findById()</a:t>
            </a:r>
          </a:p>
          <a:p>
            <a:pPr lvl="1" marL="820419" indent="-337820" defTabSz="627379">
              <a:spcBef>
                <a:spcPts val="4400"/>
              </a:spcBef>
              <a:buSzPct val="104999"/>
              <a:defRPr sz="3648"/>
            </a:pPr>
            <a:r>
              <a:t>Test insert, update, delete</a:t>
            </a:r>
          </a:p>
          <a:p>
            <a:pPr lvl="1" marL="820419" indent="-337820" defTabSz="627379">
              <a:spcBef>
                <a:spcPts val="4400"/>
              </a:spcBef>
              <a:buSzPct val="104999"/>
              <a:defRPr sz="3648"/>
            </a:pPr>
            <a:r>
              <a:t>Use transactional rollback (@Transactional)</a:t>
            </a:r>
          </a:p>
        </p:txBody>
      </p:sp>
      <p:sp>
        <p:nvSpPr>
          <p:cNvPr id="191" name="Step 7: Write Repository Tes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Step 7: Write Repository Tests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9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9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1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1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90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Verify everything works: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Verify everything works:</a:t>
            </a:r>
          </a:p>
          <a:p>
            <a:pPr lvl="1" marL="1079500" indent="-444500">
              <a:buSzPct val="104999"/>
            </a:pPr>
            <a:r>
              <a:t>Start the application</a:t>
            </a:r>
          </a:p>
          <a:p>
            <a:pPr lvl="1" marL="1079500" indent="-444500">
              <a:buSzPct val="104999"/>
            </a:pPr>
            <a:r>
              <a:t>Open H2 console</a:t>
            </a:r>
          </a:p>
          <a:p>
            <a:pPr lvl="1" marL="1079500" indent="-444500">
              <a:buSzPct val="104999"/>
            </a:pPr>
            <a:r>
              <a:t>Test controller endpoints</a:t>
            </a:r>
          </a:p>
          <a:p>
            <a:pPr lvl="1" marL="1079500" indent="-444500">
              <a:buSzPct val="104999"/>
            </a:pPr>
            <a:r>
              <a:t>Ensure repository tests pass</a:t>
            </a:r>
          </a:p>
        </p:txBody>
      </p:sp>
      <p:sp>
        <p:nvSpPr>
          <p:cNvPr id="194" name="Step 8: Run and Valida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Step 8: Run and Validate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9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9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93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pring Data JPA simplifies database access…"/>
          <p:cNvSpPr txBox="1"/>
          <p:nvPr>
            <p:ph type="body" idx="1"/>
          </p:nvPr>
        </p:nvSpPr>
        <p:spPr>
          <a:xfrm>
            <a:off x="1689100" y="3149600"/>
            <a:ext cx="21712209" cy="9296400"/>
          </a:xfrm>
          <a:prstGeom prst="rect">
            <a:avLst/>
          </a:prstGeom>
        </p:spPr>
        <p:txBody>
          <a:bodyPr/>
          <a:lstStyle/>
          <a:p>
            <a:pPr/>
            <a:r>
              <a:t>Spring Data JPA simplifies database access</a:t>
            </a:r>
          </a:p>
          <a:p>
            <a:pPr/>
            <a:r>
              <a:t>Entities represent tables in your application</a:t>
            </a:r>
          </a:p>
          <a:p>
            <a:pPr/>
            <a:r>
              <a:t>H2 lets you develop and test quickly</a:t>
            </a:r>
          </a:p>
          <a:p>
            <a:pPr/>
            <a:r>
              <a:t>Repositories provide built-in CRUD operations</a:t>
            </a:r>
          </a:p>
          <a:p>
            <a:pPr/>
            <a:r>
              <a:t>Query methods allow flexible querying with no SQL</a:t>
            </a:r>
          </a:p>
          <a:p>
            <a:pPr/>
            <a:r>
              <a:t>Repository tests validate your persistence layer</a:t>
            </a:r>
          </a:p>
        </p:txBody>
      </p:sp>
      <p:sp>
        <p:nvSpPr>
          <p:cNvPr id="197" name="Key Takeaway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Takeaways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9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9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96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